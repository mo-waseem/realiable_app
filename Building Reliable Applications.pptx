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Urbanist Medium"/>
      <p:regular r:id="rId36"/>
      <p:bold r:id="rId37"/>
      <p:italic r:id="rId38"/>
      <p:boldItalic r:id="rId39"/>
    </p:embeddedFont>
    <p:embeddedFont>
      <p:font typeface="Urbanist SemiBold"/>
      <p:regular r:id="rId40"/>
      <p:bold r:id="rId41"/>
      <p:italic r:id="rId42"/>
      <p:boldItalic r:id="rId43"/>
    </p:embeddedFont>
    <p:embeddedFont>
      <p:font typeface="Urbanist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font" Target="fonts/UrbanistMedium-regular.fntdata"/><Relationship Id="rId37" Type="http://schemas.openxmlformats.org/officeDocument/2006/relationships/font" Target="fonts/UrbanistMedium-bold.fntdata"/><Relationship Id="rId38" Type="http://schemas.openxmlformats.org/officeDocument/2006/relationships/font" Target="fonts/UrbanistMedium-italic.fntdata"/><Relationship Id="rId39" Type="http://schemas.openxmlformats.org/officeDocument/2006/relationships/font" Target="fonts/UrbanistMedium-boldItalic.fntdata"/><Relationship Id="rId40" Type="http://schemas.openxmlformats.org/officeDocument/2006/relationships/font" Target="fonts/UrbanistSemiBold-regular.fntdata"/><Relationship Id="rId41" Type="http://schemas.openxmlformats.org/officeDocument/2006/relationships/font" Target="fonts/UrbanistSemiBold-bold.fntdata"/><Relationship Id="rId42" Type="http://schemas.openxmlformats.org/officeDocument/2006/relationships/font" Target="fonts/UrbanistSemiBold-italic.fntdata"/><Relationship Id="rId43" Type="http://schemas.openxmlformats.org/officeDocument/2006/relationships/font" Target="fonts/UrbanistSemiBold-boldItalic.fntdata"/><Relationship Id="rId44" Type="http://schemas.openxmlformats.org/officeDocument/2006/relationships/font" Target="fonts/Urbanist-regular.fntdata"/><Relationship Id="rId45" Type="http://schemas.openxmlformats.org/officeDocument/2006/relationships/font" Target="fonts/Urbanist-bold.fntdata"/><Relationship Id="rId46" Type="http://schemas.openxmlformats.org/officeDocument/2006/relationships/font" Target="fonts/Urbanist-italic.fntdata"/><Relationship Id="rId47" Type="http://schemas.openxmlformats.org/officeDocument/2006/relationships/font" Target="fonts/Urbanis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h64e517a2710f27ba_0_1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h64e517a2710f27ba_0_1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64e517a2710f27ba_0_1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64e517a2710f27ba_0_1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h64e517a2710f27ba_0_1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h64e517a2710f27ba_0_1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64e517a2710f27ba_0_1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64e517a2710f27ba_0_1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h64e517a2710f27ba_0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h64e517a2710f27ba_0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h64e517a2710f27ba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h64e517a2710f27ba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h64e517a2710f27ba_24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h64e517a2710f27ba_24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64e517a2710f27ba_24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h64e517a2710f27ba_2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64e517a2710f27ba_24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h64e517a2710f27ba_24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64e517a2710f27ba_24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64e517a2710f27ba_24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h64e517a2710f27ba_24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h64e517a2710f27ba_24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h64e517a2710f27ba_24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h64e517a2710f27ba_24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h64e517a2710f27ba_24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h64e517a2710f27ba_24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Race condition vs DB contention:</a:t>
            </a:r>
          </a:p>
          <a:p>
            <a:r>
              <a:t>- Race condition = correctness problem: the result depends on timing. Two runs both see "lead 123 doesn't exist" and both insert it -&gt; duplicate.</a:t>
            </a:r>
          </a:p>
          <a:p>
            <a:r>
              <a:t>- DB contention = performance problem: the result is correct, but workers wait for each other. With a unique constraint, the 2nd insert waits for the lock, then fails safely -&gt; slow, extra load.</a:t>
            </a:r>
          </a:p>
          <a:p>
            <a:r>
              <a:t>- No constraint -&gt; race condition (duplicates). Constraint -&gt; contention (safe but slow). Constraint + lock -&gt; neither.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h64e517a2710f27ba_24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h64e517a2710f27ba_24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Distributed lock: a lock shared by all workers (stored in Redis), so only one worker runs the sync at a time. Others see the lock is taken and skip.</a:t>
            </a:r>
          </a:p>
          <a:p>
            <a:r>
              <a:t>- SET NX: set the key only if it doesn't exist -&gt; check and acquire in one atomic step (no race between "is it free?" and "take it").</a:t>
            </a:r>
          </a:p>
          <a:p>
            <a:r>
              <a:t>- TTL (EX) solves: worker crashes or is killed before releasing -&gt; lock stays forever and no sync ever runs again. The TTL auto-expires it. Set it longer than the normal run time.</a:t>
            </a:r>
          </a:p>
          <a:p>
            <a:r>
              <a:t>- Token solves: releasing someone else's lock. Worker A is slow, its TTL expires, worker B takes the lock, then A finishes and deletes the key -&gt; B's lock is gone and C can start too. With a token, A deletes only if the value is still its own token (checked atomically with a Lua script).</a:t>
            </a:r>
          </a:p>
          <a:p>
            <a:r>
              <a:t>- Still not 100%: if the TTL expires while A is still running, A and B overlap. That's why the unique constraint stays the real protection against duplicates.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h64e517a2710f27ba_24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h64e517a2710f27ba_24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h64e517a2710f27ba_24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h64e517a2710f27ba_24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h64e517a2710f27ba_24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h64e517a2710f27ba_24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h64e517a2710f27ba_24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h64e517a2710f27ba_24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h64e517a2710f27ba_24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h64e517a2710f27ba_24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h64e517a2710f27ba_24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h64e517a2710f27ba_24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h64e517a2710f27ba_24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h64e517a2710f27ba_24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64e517a2710f27ba_24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64e517a2710f27ba_24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64e517a2710f27ba_24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64e517a2710f27ba_24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h64e517a2710f27ba_24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h64e517a2710f27ba_24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64e517a2710f27ba_24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h64e517a2710f27ba_24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h64e517a2710f27ba_24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h64e517a2710f27ba_24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h64e517a2710f27ba_24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h64e517a2710f27ba_24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h64e517a2710f27ba_24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h64e517a2710f27ba_24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h64e517a2710f27ba_24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h64e517a2710f27ba_24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h64e517a2710f27ba_24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h64e517a2710f27ba_24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" name="Google Shape;32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4" name="Google Shape;34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" name="Google Shape;69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3" name="Google Shape;73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" name="Google Shape;76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9" name="Google Shape;79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7" name="Google Shape;87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4" name="Google Shape;94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7" name="Google Shape;107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8" name="Google Shape;108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" name="Google Shape;110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1" name="Google Shape;111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2" name="Google Shape;112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4" name="Google Shape;114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5" name="Google Shape;115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7" name="Google Shape;117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8" name="Google Shape;118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9" name="Google Shape;119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0" name="Google Shape;120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21" name="Google Shape;121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2" name="Google Shape;122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3" name="Google Shape;123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24" name="Google Shape;124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25" name="Google Shape;125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26" name="Google Shape;126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" name="Google Shape;12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6" name="Google Shape;136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37" name="Google Shape;137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45" name="Google Shape;14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6" name="Google Shape;14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7" name="Google Shape;14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8" name="Google Shape;14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9" name="Google Shape;14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50" name="Google Shape;150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1" name="Google Shape;151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3" name="Google Shape;153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4" name="Google Shape;154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5" name="Google Shape;155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7" name="Google Shape;157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8" name="Google Shape;158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9" name="Google Shape;159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0" name="Google Shape;160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1" name="Google Shape;161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62" name="Google Shape;162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63" name="Google Shape;163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4" name="Google Shape;164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5" name="Google Shape;165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66" name="Google Shape;16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71" name="Google Shape;17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" name="Google Shape;17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3" name="Google Shape;17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4" name="Google Shape;17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5" name="Google Shape;17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77" name="Google Shape;17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5" name="Google Shape;185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86" name="Google Shape;186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9" name="Google Shape;189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0" name="Google Shape;190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91" name="Google Shape;191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7" name="Google Shape;197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9" name="Google Shape;199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2" name="Google Shape;202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4" name="Google Shape;204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5" name="Google Shape;205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8" name="Google Shape;208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9" name="Google Shape;209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10" name="Google Shape;210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2" name="Google Shape;212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17" name="Google Shape;217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20" name="Google Shape;220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2" name="Google Shape;222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3" name="Google Shape;223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4" name="Google Shape;224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5" name="Google Shape;225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6" name="Google Shape;226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7" name="Google Shape;227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8" name="Google Shape;228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9" name="Google Shape;229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1" name="Google Shape;231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3" name="Google Shape;233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5" name="Google Shape;23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3" name="Google Shape;243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4" name="Google Shape;244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6" name="Google Shape;246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7" name="Google Shape;247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8" name="Google Shape;248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0" name="Google Shape;250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1" name="Google Shape;251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2" name="Google Shape;252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3" name="Google Shape;253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4" name="Google Shape;254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5" name="Google Shape;255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" name="Google Shape;256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8" name="Google Shape;25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1" name="Google Shape;261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5" name="Google Shape;265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7" name="Google Shape;267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9" name="Google Shape;269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0" name="Google Shape;270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3" name="Google Shape;27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6" name="Google Shape;276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7" name="Google Shape;277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78" name="Google Shape;278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3" name="Google Shape;283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7" name="Google Shape;287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88" name="Google Shape;288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2" name="Google Shape;292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3" name="Google Shape;293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4" name="Google Shape;294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5" name="Google Shape;295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6" name="Google Shape;296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7" name="Google Shape;297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8" name="Google Shape;298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9" name="Google Shape;299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0" name="Google Shape;300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2" name="Google Shape;302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4" name="Google Shape;304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07" name="Google Shape;307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08" name="Google Shape;308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9" name="Google Shape;309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0" name="Google Shape;310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2" name="Google Shape;312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4" name="Google Shape;314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5" name="Google Shape;315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7" name="Google Shape;317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8" name="Google Shape;318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9" name="Google Shape;319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1" name="Google Shape;321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23" name="Google Shape;323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24" name="Google Shape;324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25" name="Google Shape;325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6" name="Google Shape;326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7" name="Google Shape;327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8" name="Google Shape;328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9" name="Google Shape;329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0" name="Google Shape;330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1" name="Google Shape;331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3" name="Google Shape;333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6" name="Google Shape;336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7" name="Google Shape;337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38" name="Google Shape;338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1" name="Google Shape;341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43" name="Google Shape;343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5" name="Google Shape;345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46" name="Google Shape;346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47" name="Google Shape;347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0" name="Google Shape;350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4" name="Google Shape;35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5" name="Google Shape;355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8" name="Google Shape;35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1" name="Google Shape;36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5" name="Google Shape;36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3" name="Google Shape;373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7" name="Google Shape;37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0" name="Google Shape;380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1" name="Google Shape;381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385" name="Google Shape;38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8" name="Google Shape;388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8" name="Google Shape;408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0" name="Google Shape;410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9" name="Google Shape;419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0" name="Google Shape;420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5" name="Google Shape;425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6" name="Google Shape;426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8" name="Google Shape;428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5" name="Google Shape;435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3" name="Google Shape;443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4" name="Google Shape;444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4" name="Google Shape;454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5" name="Google Shape;455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6" name="Google Shape;456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7" name="Google Shape;457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9" name="Google Shape;469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1"/>
          <p:cNvSpPr/>
          <p:nvPr/>
        </p:nvSpPr>
        <p:spPr>
          <a:xfrm>
            <a:off x="228600" y="4113375"/>
            <a:ext cx="2101200" cy="33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8" name="Google Shape;478;p41"/>
          <p:cNvSpPr txBox="1"/>
          <p:nvPr>
            <p:ph type="title"/>
          </p:nvPr>
        </p:nvSpPr>
        <p:spPr>
          <a:xfrm>
            <a:off x="228600" y="186225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>
                <a:solidFill>
                  <a:schemeClr val="lt1"/>
                </a:solidFill>
              </a:rPr>
              <a:t> Applications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0" name="Google Shape;480;p4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481" name="Google Shape;481;p41"/>
          <p:cNvSpPr txBox="1"/>
          <p:nvPr>
            <p:ph idx="5" type="subTitle"/>
          </p:nvPr>
        </p:nvSpPr>
        <p:spPr>
          <a:xfrm>
            <a:off x="297075" y="4175900"/>
            <a:ext cx="19521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Waseem Kntar, Tech Lead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"/>
          <p:cNvSpPr/>
          <p:nvPr/>
        </p:nvSpPr>
        <p:spPr>
          <a:xfrm>
            <a:off x="320625" y="9133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7" name="Google Shape;487;p42"/>
          <p:cNvSpPr/>
          <p:nvPr/>
        </p:nvSpPr>
        <p:spPr>
          <a:xfrm>
            <a:off x="320625" y="159110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8" name="Google Shape;488;p42"/>
          <p:cNvSpPr/>
          <p:nvPr/>
        </p:nvSpPr>
        <p:spPr>
          <a:xfrm>
            <a:off x="320625" y="226890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9" name="Google Shape;489;p42"/>
          <p:cNvSpPr/>
          <p:nvPr/>
        </p:nvSpPr>
        <p:spPr>
          <a:xfrm>
            <a:off x="320625" y="294667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0" name="Google Shape;490;p42"/>
          <p:cNvSpPr/>
          <p:nvPr/>
        </p:nvSpPr>
        <p:spPr>
          <a:xfrm>
            <a:off x="320625" y="36244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91" name="Google Shape;491;p42"/>
          <p:cNvGrpSpPr/>
          <p:nvPr/>
        </p:nvGrpSpPr>
        <p:grpSpPr>
          <a:xfrm rot="-5400000">
            <a:off x="4219480" y="1154125"/>
            <a:ext cx="204654" cy="204654"/>
            <a:chOff x="259788" y="1923155"/>
            <a:chExt cx="409800" cy="409800"/>
          </a:xfrm>
        </p:grpSpPr>
        <p:sp>
          <p:nvSpPr>
            <p:cNvPr id="492" name="Google Shape;492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3" name="Google Shape;493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4" name="Google Shape;494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5" name="Google Shape;495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96" name="Google Shape;496;p42"/>
          <p:cNvGrpSpPr/>
          <p:nvPr/>
        </p:nvGrpSpPr>
        <p:grpSpPr>
          <a:xfrm rot="-5400000">
            <a:off x="4219480" y="1831910"/>
            <a:ext cx="204654" cy="204654"/>
            <a:chOff x="259788" y="1923155"/>
            <a:chExt cx="409800" cy="409800"/>
          </a:xfrm>
        </p:grpSpPr>
        <p:sp>
          <p:nvSpPr>
            <p:cNvPr id="497" name="Google Shape;497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98" name="Google Shape;498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99" name="Google Shape;499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" name="Google Shape;500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1" name="Google Shape;501;p42"/>
          <p:cNvGrpSpPr/>
          <p:nvPr/>
        </p:nvGrpSpPr>
        <p:grpSpPr>
          <a:xfrm rot="-5400000">
            <a:off x="4219480" y="2509695"/>
            <a:ext cx="204654" cy="204654"/>
            <a:chOff x="259788" y="1923155"/>
            <a:chExt cx="409800" cy="409800"/>
          </a:xfrm>
        </p:grpSpPr>
        <p:sp>
          <p:nvSpPr>
            <p:cNvPr id="502" name="Google Shape;502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3" name="Google Shape;503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4" name="Google Shape;504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5" name="Google Shape;505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6" name="Google Shape;506;p42"/>
          <p:cNvGrpSpPr/>
          <p:nvPr/>
        </p:nvGrpSpPr>
        <p:grpSpPr>
          <a:xfrm rot="-5400000">
            <a:off x="4219480" y="3187480"/>
            <a:ext cx="204654" cy="204654"/>
            <a:chOff x="259788" y="1923155"/>
            <a:chExt cx="409800" cy="409800"/>
          </a:xfrm>
        </p:grpSpPr>
        <p:sp>
          <p:nvSpPr>
            <p:cNvPr id="507" name="Google Shape;507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8" name="Google Shape;508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9" name="Google Shape;509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0" name="Google Shape;510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1" name="Google Shape;511;p42"/>
          <p:cNvGrpSpPr/>
          <p:nvPr/>
        </p:nvGrpSpPr>
        <p:grpSpPr>
          <a:xfrm rot="-5400000">
            <a:off x="4219480" y="3865265"/>
            <a:ext cx="204654" cy="204654"/>
            <a:chOff x="259788" y="1923155"/>
            <a:chExt cx="409800" cy="409800"/>
          </a:xfrm>
        </p:grpSpPr>
        <p:sp>
          <p:nvSpPr>
            <p:cNvPr id="512" name="Google Shape;512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3" name="Google Shape;513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4" name="Google Shape;514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16" name="Google Shape;516;p4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2/30</a:t>
            </a:r>
            <a:endParaRPr/>
          </a:p>
        </p:txBody>
      </p:sp>
      <p:sp>
        <p:nvSpPr>
          <p:cNvPr id="517" name="Google Shape;517;p4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18" name="Google Shape;518;p42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519" name="Google Shape;519;p42"/>
          <p:cNvSpPr txBox="1"/>
          <p:nvPr>
            <p:ph idx="4" type="subTitle"/>
          </p:nvPr>
        </p:nvSpPr>
        <p:spPr>
          <a:xfrm>
            <a:off x="446250" y="107187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20" name="Google Shape;520;p42"/>
          <p:cNvSpPr txBox="1"/>
          <p:nvPr>
            <p:ph idx="5" type="subTitle"/>
          </p:nvPr>
        </p:nvSpPr>
        <p:spPr>
          <a:xfrm>
            <a:off x="446250" y="1748813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21" name="Google Shape;521;p42"/>
          <p:cNvSpPr txBox="1"/>
          <p:nvPr>
            <p:ph idx="6" type="subTitle"/>
          </p:nvPr>
        </p:nvSpPr>
        <p:spPr>
          <a:xfrm>
            <a:off x="446250" y="24257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22" name="Google Shape;522;p42"/>
          <p:cNvSpPr txBox="1"/>
          <p:nvPr>
            <p:ph idx="7" type="subTitle"/>
          </p:nvPr>
        </p:nvSpPr>
        <p:spPr>
          <a:xfrm>
            <a:off x="446250" y="31070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23" name="Google Shape;523;p42"/>
          <p:cNvSpPr txBox="1"/>
          <p:nvPr>
            <p:ph idx="8" type="subTitle"/>
          </p:nvPr>
        </p:nvSpPr>
        <p:spPr>
          <a:xfrm>
            <a:off x="446250" y="37813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24" name="Google Shape;524;p42"/>
          <p:cNvSpPr txBox="1"/>
          <p:nvPr>
            <p:ph idx="13" type="subTitle"/>
          </p:nvPr>
        </p:nvSpPr>
        <p:spPr>
          <a:xfrm>
            <a:off x="768750" y="107187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&amp; Why Reliability ?</a:t>
            </a:r>
            <a:endParaRPr/>
          </a:p>
        </p:txBody>
      </p:sp>
      <p:sp>
        <p:nvSpPr>
          <p:cNvPr id="525" name="Google Shape;525;p42"/>
          <p:cNvSpPr txBox="1"/>
          <p:nvPr>
            <p:ph idx="14" type="subTitle"/>
          </p:nvPr>
        </p:nvSpPr>
        <p:spPr>
          <a:xfrm>
            <a:off x="768750" y="1748813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Get, Create Leads</a:t>
            </a:r>
            <a:endParaRPr/>
          </a:p>
        </p:txBody>
      </p:sp>
      <p:sp>
        <p:nvSpPr>
          <p:cNvPr id="526" name="Google Shape;526;p42"/>
          <p:cNvSpPr txBox="1"/>
          <p:nvPr>
            <p:ph idx="15" type="subTitle"/>
          </p:nvPr>
        </p:nvSpPr>
        <p:spPr>
          <a:xfrm>
            <a:off x="768750" y="24257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Sending WhatsApp Messages </a:t>
            </a:r>
            <a:endParaRPr/>
          </a:p>
        </p:txBody>
      </p:sp>
      <p:sp>
        <p:nvSpPr>
          <p:cNvPr id="527" name="Google Shape;527;p42"/>
          <p:cNvSpPr txBox="1"/>
          <p:nvPr>
            <p:ph idx="16" type="subTitle"/>
          </p:nvPr>
        </p:nvSpPr>
        <p:spPr>
          <a:xfrm>
            <a:off x="768750" y="31070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Webhooks Handling</a:t>
            </a:r>
            <a:endParaRPr/>
          </a:p>
        </p:txBody>
      </p:sp>
      <p:sp>
        <p:nvSpPr>
          <p:cNvPr id="528" name="Google Shape;528;p42"/>
          <p:cNvSpPr txBox="1"/>
          <p:nvPr>
            <p:ph idx="17" type="subTitle"/>
          </p:nvPr>
        </p:nvSpPr>
        <p:spPr>
          <a:xfrm>
            <a:off x="768750" y="37813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Safe Deployment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34" name="Google Shape;534;p43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Reliability?</a:t>
            </a:r>
            <a:endParaRPr/>
          </a:p>
        </p:txBody>
      </p:sp>
      <p:pic>
        <p:nvPicPr>
          <p:cNvPr descr="A luminous galaxy." id="535" name="Google Shape;535;p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6224" r="26224" t="0"/>
          <a:stretch/>
        </p:blipFill>
        <p:spPr>
          <a:xfrm>
            <a:off x="5342000" y="457200"/>
            <a:ext cx="3573300" cy="3995400"/>
          </a:xfrm>
          <a:prstGeom prst="roundRect">
            <a:avLst>
              <a:gd fmla="val 16667" name="adj"/>
            </a:avLst>
          </a:prstGeom>
        </p:spPr>
      </p:pic>
      <p:sp>
        <p:nvSpPr>
          <p:cNvPr id="536" name="Google Shape;536;p4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37" name="Google Shape;537;p4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3/30</a:t>
            </a:r>
            <a:endParaRPr/>
          </a:p>
        </p:txBody>
      </p:sp>
      <p:sp>
        <p:nvSpPr>
          <p:cNvPr id="538" name="Google Shape;538;p43"/>
          <p:cNvSpPr txBox="1"/>
          <p:nvPr/>
        </p:nvSpPr>
        <p:spPr>
          <a:xfrm>
            <a:off x="277775" y="1254500"/>
            <a:ext cx="47760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System should continue to work correctly (performing the correct function under the desired level of performance),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Even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in the face of adversity (hardware faults, software bugs or even human errors).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Source: Designing Data-intensive Applications Book p. 6</a:t>
            </a:r>
            <a:endParaRPr i="1" sz="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44" name="Google Shape;544;p44"/>
          <p:cNvSpPr txBox="1"/>
          <p:nvPr>
            <p:ph type="title"/>
          </p:nvPr>
        </p:nvSpPr>
        <p:spPr>
          <a:xfrm>
            <a:off x="228600" y="640925"/>
            <a:ext cx="46377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Reliability?</a:t>
            </a:r>
            <a:endParaRPr/>
          </a:p>
        </p:txBody>
      </p:sp>
      <p:sp>
        <p:nvSpPr>
          <p:cNvPr id="545" name="Google Shape;545;p4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46" name="Google Shape;546;p4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4/30</a:t>
            </a:r>
            <a:endParaRPr/>
          </a:p>
        </p:txBody>
      </p:sp>
      <p:sp>
        <p:nvSpPr>
          <p:cNvPr id="547" name="Google Shape;547;p44"/>
          <p:cNvSpPr txBox="1"/>
          <p:nvPr/>
        </p:nvSpPr>
        <p:spPr>
          <a:xfrm>
            <a:off x="277775" y="1254500"/>
            <a:ext cx="47760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Secret Management App Data loss: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Users will not be nice if their data are lost ! and could cost you a high penalty.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Payment Service Bug: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Users can lost money ! or charged many times, a real harm for them can cost your company a lot or could even close it entirely.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53" name="Google Shape;553;p45"/>
          <p:cNvSpPr txBox="1"/>
          <p:nvPr>
            <p:ph type="title"/>
          </p:nvPr>
        </p:nvSpPr>
        <p:spPr>
          <a:xfrm>
            <a:off x="2253150" y="1858350"/>
            <a:ext cx="4637700" cy="14268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#1: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rgbClr val="00FFFF"/>
                </a:solidFill>
              </a:rPr>
            </a:br>
            <a:r>
              <a:rPr lang="en">
                <a:solidFill>
                  <a:srgbClr val="00FFFF"/>
                </a:solidFill>
              </a:rPr>
              <a:t>Get, Create Leads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554" name="Google Shape;554;p45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55" name="Google Shape;555;p4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5/30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61" name="Google Shape;561;p46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62" name="Google Shape;562;p4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6/30</a:t>
            </a:r>
            <a:endParaRPr/>
          </a:p>
        </p:txBody>
      </p:sp>
      <p:sp>
        <p:nvSpPr>
          <p:cNvPr id="563" name="Google Shape;563;p46"/>
          <p:cNvSpPr txBox="1"/>
          <p:nvPr/>
        </p:nvSpPr>
        <p:spPr>
          <a:xfrm>
            <a:off x="2141550" y="355420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problems this code could have?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64" name="Google Shape;56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150" y="588850"/>
            <a:ext cx="7031700" cy="335447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6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7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71" name="Google Shape;571;p47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72" name="Google Shape;572;p47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7/30</a:t>
            </a:r>
            <a:endParaRPr/>
          </a:p>
        </p:txBody>
      </p:sp>
      <p:sp>
        <p:nvSpPr>
          <p:cNvPr id="573" name="Google Shape;573;p47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#1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74" name="Google Shape;57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688" y="1518225"/>
            <a:ext cx="4416824" cy="210704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7"/>
          <p:cNvSpPr txBox="1"/>
          <p:nvPr/>
        </p:nvSpPr>
        <p:spPr>
          <a:xfrm>
            <a:off x="228600" y="1892388"/>
            <a:ext cx="40779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some exception happened during the process,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others leads from other customers may be blocked.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6" name="Google Shape;576;p47"/>
          <p:cNvSpPr txBox="1"/>
          <p:nvPr/>
        </p:nvSpPr>
        <p:spPr>
          <a:xfrm>
            <a:off x="290850" y="3435425"/>
            <a:ext cx="40779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Example: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Not valid lead data, request timeout, response parsing error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7" name="Google Shape;577;p47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83" name="Google Shape;583;p4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84" name="Google Shape;584;p4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8/30</a:t>
            </a:r>
            <a:endParaRPr/>
          </a:p>
        </p:txBody>
      </p:sp>
      <p:sp>
        <p:nvSpPr>
          <p:cNvPr id="585" name="Google Shape;585;p48"/>
          <p:cNvSpPr txBox="1"/>
          <p:nvPr/>
        </p:nvSpPr>
        <p:spPr>
          <a:xfrm>
            <a:off x="228600" y="1714425"/>
            <a:ext cx="40779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Error handling is required here,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Log the error, set an alert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continue with the other customers’ leads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86" name="Google Shape;5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200" y="713913"/>
            <a:ext cx="3655799" cy="3715671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8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588" name="Google Shape;588;p48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#1: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594" name="Google Shape;594;p49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9/30</a:t>
            </a:r>
            <a:endParaRPr/>
          </a:p>
        </p:txBody>
      </p:sp>
      <p:sp>
        <p:nvSpPr>
          <p:cNvPr id="596" name="Google Shape;596;p49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task can create a lead twice!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Another worker pick the next get_and_create_leads when this one is not finished yet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Or when the task is retried for some reason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7" name="Google Shape;597;p49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598" name="Google Shape;598;p49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#2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9" name="Google Shape;59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200" y="713913"/>
            <a:ext cx="3655799" cy="3715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05" name="Google Shape;605;p50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06" name="Google Shape;606;p5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10/30</a:t>
            </a:r>
            <a:endParaRPr/>
          </a:p>
        </p:txBody>
      </p:sp>
      <p:sp>
        <p:nvSpPr>
          <p:cNvPr id="607" name="Google Shape;607;p50"/>
          <p:cNvSpPr txBox="1"/>
          <p:nvPr/>
        </p:nvSpPr>
        <p:spPr>
          <a:xfrm>
            <a:off x="228600" y="1714425"/>
            <a:ext cx="40779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 get_or_create instead of create, but with a UNIQUE db constraint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8" name="Google Shape;608;p50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609" name="Google Shape;609;p50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#2: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10" name="Google Shape;61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625" y="387138"/>
            <a:ext cx="3655801" cy="420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16" name="Google Shape;616;p51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17" name="Google Shape;617;p5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11/30</a:t>
            </a:r>
            <a:endParaRPr/>
          </a:p>
        </p:txBody>
      </p:sp>
      <p:sp>
        <p:nvSpPr>
          <p:cNvPr id="618" name="Google Shape;618;p51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Task can take long time, and exceeds worker time limit!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It will be killed before getting all leads.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This task can block other fast track tasks because of its long running time!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9" name="Google Shape;619;p51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620" name="Google Shape;620;p51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#3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21" name="Google Shape;62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625" y="387138"/>
            <a:ext cx="3655801" cy="420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27" name="Google Shape;627;p5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28" name="Google Shape;628;p5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12/30</a:t>
            </a:r>
            <a:endParaRPr/>
          </a:p>
        </p:txBody>
      </p:sp>
      <p:sp>
        <p:nvSpPr>
          <p:cNvPr id="629" name="Google Shape;629;p52"/>
          <p:cNvSpPr txBox="1"/>
          <p:nvPr/>
        </p:nvSpPr>
        <p:spPr>
          <a:xfrm>
            <a:off x="228600" y="1714425"/>
            <a:ext cx="42963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 it in batches, each batch could have 10 customers for example.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 leads in bulk instead of one by one, this could produce a significant improvement (add ignore_conflicts).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-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 a special queue for long running tasks to avoid blocking the fast track tasks.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52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631" name="Google Shape;631;p52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#3: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37" name="Google Shape;637;p5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38" name="Google Shape;638;p5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13/30</a:t>
            </a:r>
            <a:endParaRPr/>
          </a:p>
        </p:txBody>
      </p:sp>
      <p:sp>
        <p:nvSpPr>
          <p:cNvPr id="639" name="Google Shape;639;p53"/>
          <p:cNvSpPr txBox="1"/>
          <p:nvPr/>
        </p:nvSpPr>
        <p:spPr>
          <a:xfrm>
            <a:off x="228600" y="1454250"/>
            <a:ext cx="4954800" cy="3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Scheduler publishes this task every 30 seconds, even when the previous execution is still running.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 runs overlap, causing: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Duplicate leads (without a unique constraint)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Runs piling up and starving the workers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Repeated external API calls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DB contention on the same rows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- Repeated side effects (e.g. notifications)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get_or_create fixes only the duplicates!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0" name="Google Shape;640;p53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641" name="Google Shape;641;p53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#4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42" name="Google Shape;6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625" y="387138"/>
            <a:ext cx="3655801" cy="420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48" name="Google Shape;648;p5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49" name="Google Shape;649;p5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14/30</a:t>
            </a:r>
            <a:endParaRPr/>
          </a:p>
        </p:txBody>
      </p:sp>
      <p:sp>
        <p:nvSpPr>
          <p:cNvPr id="650" name="Google Shape;650;p54"/>
          <p:cNvSpPr txBox="1"/>
          <p:nvPr/>
        </p:nvSpPr>
        <p:spPr>
          <a:xfrm>
            <a:off x="296850" y="1410463"/>
            <a:ext cx="57156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Distributed lock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 a distributed lock with one stable key, such as: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locks:sync_all_leads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Acquire it atomically with SET NX EX, use a unique ownership token,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release it only if the token still belongs to this worker.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expiration prevents a crashed worker from leaving a stale lock.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However, the lock is not the primary protection against duplicates.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Lead creation must still be idempotent and protected by a database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unique constraint because locks can expire or fail.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1" name="Google Shape;651;p54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Get, Create Leads</a:t>
            </a:r>
            <a:endParaRPr sz="1100"/>
          </a:p>
        </p:txBody>
      </p:sp>
      <p:sp>
        <p:nvSpPr>
          <p:cNvPr id="652" name="Google Shape;652;p54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#4: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657" name="Google Shape;657;p55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55"/>
          <p:cNvSpPr txBox="1"/>
          <p:nvPr>
            <p:ph type="title"/>
          </p:nvPr>
        </p:nvSpPr>
        <p:spPr>
          <a:xfrm>
            <a:off x="320625" y="1782838"/>
            <a:ext cx="44322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Less of Reliability is a less of imagination</a:t>
            </a:r>
            <a:endParaRPr sz="2200">
              <a:solidFill>
                <a:schemeClr val="accent3"/>
              </a:solidFill>
            </a:endParaRPr>
          </a:p>
        </p:txBody>
      </p:sp>
      <p:sp>
        <p:nvSpPr>
          <p:cNvPr id="659" name="Google Shape;659;p5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60" name="Google Shape;660;p5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15/30</a:t>
            </a:r>
            <a:r>
              <a:rPr lang="en"/>
              <a:t/>
            </a:r>
            <a:endParaRPr/>
          </a:p>
        </p:txBody>
      </p:sp>
      <p:sp>
        <p:nvSpPr>
          <p:cNvPr id="661" name="Google Shape;661;p5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67" name="Google Shape;667;p56"/>
          <p:cNvSpPr txBox="1"/>
          <p:nvPr>
            <p:ph type="title"/>
          </p:nvPr>
        </p:nvSpPr>
        <p:spPr>
          <a:xfrm>
            <a:off x="2253150" y="1858350"/>
            <a:ext cx="4637700" cy="14268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#2: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Sending WhatsApp Messages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668" name="Google Shape;668;p56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69" name="Google Shape;669;p5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16/30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7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75" name="Google Shape;675;p57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76" name="Google Shape;676;p57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17/30</a:t>
            </a:r>
            <a:endParaRPr/>
          </a:p>
        </p:txBody>
      </p:sp>
      <p:sp>
        <p:nvSpPr>
          <p:cNvPr id="677" name="Google Shape;677;p57"/>
          <p:cNvSpPr txBox="1"/>
          <p:nvPr/>
        </p:nvSpPr>
        <p:spPr>
          <a:xfrm>
            <a:off x="4022825" y="2053175"/>
            <a:ext cx="36924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What problems this code could have?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8" name="Google Shape;678;p57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679" name="Google Shape;67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950" y="780750"/>
            <a:ext cx="3320049" cy="385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85" name="Google Shape;685;p5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86" name="Google Shape;686;p5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18/30</a:t>
            </a:r>
            <a:endParaRPr/>
          </a:p>
        </p:txBody>
      </p:sp>
      <p:sp>
        <p:nvSpPr>
          <p:cNvPr id="687" name="Google Shape;687;p58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Sending to WhatsApp fails: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If the message is created in the db but the sending to WhatsApp fails,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message will be stuck in PENDING status and will never be sent.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8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#1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8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690" name="Google Shape;69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175" y="695550"/>
            <a:ext cx="3320049" cy="385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696" name="Google Shape;696;p59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697" name="Google Shape;697;p5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19/30</a:t>
            </a:r>
            <a:endParaRPr/>
          </a:p>
        </p:txBody>
      </p:sp>
      <p:sp>
        <p:nvSpPr>
          <p:cNvPr id="698" name="Google Shape;698;p59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Retry: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can use a retry mechanism to retry sending the message if it fails,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set that in the status of the message to FAILED if it fails after a certain number of retries,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we can have a separate task to retry sending the failed messages.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9" name="Google Shape;699;p59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#1: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0" name="Google Shape;700;p59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06" name="Google Shape;706;p60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07" name="Google Shape;707;p6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20/30</a:t>
            </a:r>
            <a:endParaRPr/>
          </a:p>
        </p:txBody>
      </p:sp>
      <p:sp>
        <p:nvSpPr>
          <p:cNvPr id="708" name="Google Shape;708;p60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Sending to WA can cost time!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can slow down the system.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9" name="Google Shape;709;p60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#2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0" name="Google Shape;710;p60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711" name="Google Shape;71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175" y="695550"/>
            <a:ext cx="3320049" cy="385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17" name="Google Shape;717;p61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18" name="Google Shape;718;p6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21/30</a:t>
            </a:r>
            <a:endParaRPr/>
          </a:p>
        </p:txBody>
      </p:sp>
      <p:sp>
        <p:nvSpPr>
          <p:cNvPr id="719" name="Google Shape;719;p61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Make it a background job: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can use a separate task to send the message to WhatsApp in background.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0" name="Google Shape;720;p61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#2: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1" name="Google Shape;721;p61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722" name="Google Shape;7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175" y="695550"/>
            <a:ext cx="3320049" cy="385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6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28" name="Google Shape;728;p6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29" name="Google Shape;729;p6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22/30</a:t>
            </a:r>
            <a:endParaRPr/>
          </a:p>
        </p:txBody>
      </p:sp>
      <p:sp>
        <p:nvSpPr>
          <p:cNvPr id="730" name="Google Shape;730;p62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Sending task may crash or fail during the execution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1" name="Google Shape;731;p62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Urbanist"/>
                <a:ea typeface="Urbanist"/>
                <a:cs typeface="Urbanist"/>
                <a:sym typeface="Urbanist"/>
              </a:rPr>
              <a:t>Problem #3</a:t>
            </a: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2" name="Google Shape;732;p62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38" name="Google Shape;738;p6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39" name="Google Shape;739;p6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23/30</a:t>
            </a:r>
            <a:endParaRPr/>
          </a:p>
        </p:txBody>
      </p:sp>
      <p:sp>
        <p:nvSpPr>
          <p:cNvPr id="740" name="Google Shape;740;p63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Retry or Sleep ? 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It may help, but it will cause more processing and blocking time for the workers.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And what if the fail keeps happening, how to check the failed sends?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Digging into the logs ?!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1" name="Google Shape;741;p63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#3: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2" name="Google Shape;742;p63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743" name="Google Shape;74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175" y="695550"/>
            <a:ext cx="3320049" cy="385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49" name="Google Shape;749;p6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50" name="Google Shape;750;p6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24/30</a:t>
            </a:r>
            <a:endParaRPr/>
          </a:p>
        </p:txBody>
      </p:sp>
      <p:sp>
        <p:nvSpPr>
          <p:cNvPr id="751" name="Google Shape;751;p64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Outbox Pattern!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simplest </a:t>
            </a:r>
            <a:r>
              <a:rPr lang="en" sz="1200">
                <a:solidFill>
                  <a:srgbClr val="FFC66D"/>
                </a:solidFill>
                <a:latin typeface="Urbanist"/>
                <a:ea typeface="Urbanist"/>
                <a:cs typeface="Urbanist"/>
                <a:sym typeface="Urbanist"/>
              </a:rPr>
              <a:t>definition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of the outbox pattern: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transactional outbox prevents an external action from being forgotten  after a database transaction commits.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It atomically saves the business change and a durable record of the external work that must happen later.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2" name="Google Shape;752;p64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#3: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3" name="Google Shape;753;p64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754" name="Google Shape;7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600" y="1382013"/>
            <a:ext cx="3655803" cy="237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5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60" name="Google Shape;760;p65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61" name="Google Shape;761;p65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25/30</a:t>
            </a:r>
            <a:endParaRPr/>
          </a:p>
        </p:txBody>
      </p:sp>
      <p:sp>
        <p:nvSpPr>
          <p:cNvPr id="762" name="Google Shape;762;p65"/>
          <p:cNvSpPr txBox="1"/>
          <p:nvPr/>
        </p:nvSpPr>
        <p:spPr>
          <a:xfrm>
            <a:off x="228600" y="2394888"/>
            <a:ext cx="495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Outbox Pattern!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There will be a special task to poll outbox entries and send message for each.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228600" y="695550"/>
            <a:ext cx="495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FFFF"/>
                </a:solidFill>
                <a:latin typeface="Urbanist"/>
                <a:ea typeface="Urbanist"/>
                <a:cs typeface="Urbanist"/>
                <a:sym typeface="Urbanist"/>
              </a:rPr>
              <a:t>Solution #3:</a:t>
            </a:r>
            <a:endParaRPr sz="1900">
              <a:solidFill>
                <a:srgbClr val="00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4" name="Google Shape;764;p65"/>
          <p:cNvSpPr txBox="1"/>
          <p:nvPr>
            <p:ph type="title"/>
          </p:nvPr>
        </p:nvSpPr>
        <p:spPr>
          <a:xfrm>
            <a:off x="228600" y="387140"/>
            <a:ext cx="2181600" cy="393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Sending WhatsApp Messages</a:t>
            </a:r>
            <a:endParaRPr sz="1100"/>
          </a:p>
        </p:txBody>
      </p:sp>
      <p:pic>
        <p:nvPicPr>
          <p:cNvPr id="765" name="Google Shape;76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600" y="1382013"/>
            <a:ext cx="3655803" cy="2379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uminous galaxy in space. " id="770" name="Google Shape;770;p66"/>
          <p:cNvPicPr preferRelativeResize="0"/>
          <p:nvPr/>
        </p:nvPicPr>
        <p:blipFill rotWithShape="1">
          <a:blip r:embed="rId3">
            <a:alphaModFix amt="50000"/>
          </a:blip>
          <a:srcRect b="1961" l="0" r="0" t="6840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6"/>
          <p:cNvSpPr txBox="1"/>
          <p:nvPr>
            <p:ph type="title"/>
          </p:nvPr>
        </p:nvSpPr>
        <p:spPr>
          <a:xfrm>
            <a:off x="320625" y="1567742"/>
            <a:ext cx="4432200" cy="154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Reliability </a:t>
            </a:r>
            <a:r>
              <a:rPr lang="en">
                <a:solidFill>
                  <a:srgbClr val="FFC66D"/>
                </a:solidFill>
              </a:rPr>
              <a:t>is an additional cost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 sz="2200">
                <a:solidFill>
                  <a:schemeClr val="dk2"/>
                </a:solidFill>
              </a:rPr>
              <a:t>(Complexity, Development time, Performance)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72" name="Google Shape;772;p6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73" name="Google Shape;773;p6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26/30</a:t>
            </a:r>
            <a:endParaRPr/>
          </a:p>
        </p:txBody>
      </p:sp>
      <p:sp>
        <p:nvSpPr>
          <p:cNvPr id="774" name="Google Shape;774;p6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7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80" name="Google Shape;780;p67"/>
          <p:cNvSpPr txBox="1"/>
          <p:nvPr>
            <p:ph type="title"/>
          </p:nvPr>
        </p:nvSpPr>
        <p:spPr>
          <a:xfrm>
            <a:off x="2253150" y="1858350"/>
            <a:ext cx="4637700" cy="14268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#3: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Webhook Handling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781" name="Google Shape;781;p67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82" name="Google Shape;782;p67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27/30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88" name="Google Shape;788;p68"/>
          <p:cNvSpPr txBox="1"/>
          <p:nvPr>
            <p:ph type="title"/>
          </p:nvPr>
        </p:nvSpPr>
        <p:spPr>
          <a:xfrm>
            <a:off x="2253150" y="1858350"/>
            <a:ext cx="4637700" cy="14268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#4: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FF"/>
                </a:solidFill>
              </a:rPr>
              <a:t>Safe deployment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789" name="Google Shape;789;p68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90" name="Google Shape;790;p6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28/30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796" name="Google Shape;796;p69"/>
          <p:cNvSpPr txBox="1"/>
          <p:nvPr>
            <p:ph type="title"/>
          </p:nvPr>
        </p:nvSpPr>
        <p:spPr>
          <a:xfrm>
            <a:off x="2253150" y="1858350"/>
            <a:ext cx="4637700" cy="14268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 ?</a:t>
            </a:r>
            <a:endParaRPr/>
          </a:p>
        </p:txBody>
      </p:sp>
      <p:sp>
        <p:nvSpPr>
          <p:cNvPr id="797" name="Google Shape;797;p69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</a:t>
            </a:r>
            <a:r>
              <a:rPr lang="en">
                <a:solidFill>
                  <a:srgbClr val="00FF00"/>
                </a:solidFill>
              </a:rPr>
              <a:t>Reliable</a:t>
            </a:r>
            <a:r>
              <a:rPr lang="en"/>
              <a:t> Applications</a:t>
            </a:r>
            <a:endParaRPr/>
          </a:p>
        </p:txBody>
      </p:sp>
      <p:sp>
        <p:nvSpPr>
          <p:cNvPr id="798" name="Google Shape;798;p6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29/30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70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 Oct 2026</a:t>
            </a:r>
            <a:endParaRPr/>
          </a:p>
        </p:txBody>
      </p:sp>
      <p:sp>
        <p:nvSpPr>
          <p:cNvPr id="804" name="Google Shape;804;p70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05" name="Google Shape;805;p70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70"/>
          <p:cNvSpPr/>
          <p:nvPr/>
        </p:nvSpPr>
        <p:spPr>
          <a:xfrm>
            <a:off x="6080700" y="2888275"/>
            <a:ext cx="2835000" cy="15645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Contact</a:t>
            </a: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?</a:t>
            </a: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Let’s </a:t>
            </a:r>
            <a:r>
              <a:rPr lang="en"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talk</a:t>
            </a:r>
            <a:endParaRPr sz="1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Waseem Kntar</a:t>
            </a:r>
            <a:endParaRPr sz="16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waseem.kntar@gmail.com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https://linkedin.com/in/waseem-kntar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