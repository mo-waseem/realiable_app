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y="5143500" cx="9144000"/>
  <p:notesSz cx="6858000" cy="9144000"/>
  <p:embeddedFontLst>
    <p:embeddedFont>
      <p:font typeface="Urbanist Medium"/>
      <p:regular r:id="rId36"/>
      <p:bold r:id="rId37"/>
      <p:italic r:id="rId38"/>
      <p:boldItalic r:id="rId39"/>
    </p:embeddedFont>
    <p:embeddedFont>
      <p:font typeface="Urbanist SemiBold"/>
      <p:regular r:id="rId40"/>
      <p:bold r:id="rId41"/>
      <p:italic r:id="rId42"/>
      <p:boldItalic r:id="rId43"/>
    </p:embeddedFont>
    <p:embeddedFont>
      <p:font typeface="Urbanist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UrbanistSemiBold-regular.fntdata"/><Relationship Id="rId20" Type="http://schemas.openxmlformats.org/officeDocument/2006/relationships/slide" Target="slides/slide15.xml"/><Relationship Id="rId42" Type="http://schemas.openxmlformats.org/officeDocument/2006/relationships/font" Target="fonts/UrbanistSemiBold-italic.fntdata"/><Relationship Id="rId41" Type="http://schemas.openxmlformats.org/officeDocument/2006/relationships/font" Target="fonts/UrbanistSemiBold-bold.fntdata"/><Relationship Id="rId22" Type="http://schemas.openxmlformats.org/officeDocument/2006/relationships/slide" Target="slides/slide17.xml"/><Relationship Id="rId44" Type="http://schemas.openxmlformats.org/officeDocument/2006/relationships/font" Target="fonts/Urbanist-regular.fntdata"/><Relationship Id="rId21" Type="http://schemas.openxmlformats.org/officeDocument/2006/relationships/slide" Target="slides/slide16.xml"/><Relationship Id="rId43" Type="http://schemas.openxmlformats.org/officeDocument/2006/relationships/font" Target="fonts/UrbanistSemiBold-boldItalic.fntdata"/><Relationship Id="rId24" Type="http://schemas.openxmlformats.org/officeDocument/2006/relationships/slide" Target="slides/slide19.xml"/><Relationship Id="rId46" Type="http://schemas.openxmlformats.org/officeDocument/2006/relationships/font" Target="fonts/Urbanist-italic.fntdata"/><Relationship Id="rId23" Type="http://schemas.openxmlformats.org/officeDocument/2006/relationships/slide" Target="slides/slide18.xml"/><Relationship Id="rId45" Type="http://schemas.openxmlformats.org/officeDocument/2006/relationships/font" Target="fonts/Urbanis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47" Type="http://schemas.openxmlformats.org/officeDocument/2006/relationships/font" Target="fonts/Urbanist-bold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UrbanistMedium-bold.fntdata"/><Relationship Id="rId14" Type="http://schemas.openxmlformats.org/officeDocument/2006/relationships/slide" Target="slides/slide9.xml"/><Relationship Id="rId36" Type="http://schemas.openxmlformats.org/officeDocument/2006/relationships/font" Target="fonts/UrbanistMedium-regular.fntdata"/><Relationship Id="rId17" Type="http://schemas.openxmlformats.org/officeDocument/2006/relationships/slide" Target="slides/slide12.xml"/><Relationship Id="rId39" Type="http://schemas.openxmlformats.org/officeDocument/2006/relationships/font" Target="fonts/UrbanistMedium-boldItalic.fntdata"/><Relationship Id="rId16" Type="http://schemas.openxmlformats.org/officeDocument/2006/relationships/slide" Target="slides/slide11.xml"/><Relationship Id="rId38" Type="http://schemas.openxmlformats.org/officeDocument/2006/relationships/font" Target="fonts/UrbanistMedium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h64e517a2710f27ba_0_17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h64e517a2710f27ba_0_17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h64e517a2710f27ba_0_17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h64e517a2710f27ba_0_17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h64e517a2710f27ba_0_18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h64e517a2710f27ba_0_18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h64e517a2710f27ba_0_18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h64e517a2710f27ba_0_18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h64e517a2710f27ba_0_18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h64e517a2710f27ba_0_18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h64e517a2710f27ba_2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h64e517a2710f27ba_2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h64e517a2710f27ba_24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h64e517a2710f27ba_24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h64e517a2710f27ba_24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h64e517a2710f27ba_24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h64e517a2710f27ba_24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h64e517a2710f27ba_24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4e517a2710f27ba_24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4e517a2710f27ba_24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h64e517a2710f27ba_24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h64e517a2710f27ba_24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h64e517a2710f27ba_24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h64e517a2710f27ba_24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h64e517a2710f27ba_24_2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h64e517a2710f27ba_24_2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h64e517a2710f27ba_24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h64e517a2710f27ba_24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h64e517a2710f27ba_24_4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h64e517a2710f27ba_24_4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h64e517a2710f27ba_24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h64e517a2710f27ba_24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h64e517a2710f27ba_24_2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2" name="Google Shape;672;h64e517a2710f27ba_24_2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h64e517a2710f27ba_24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h64e517a2710f27ba_24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h64e517a2710f27ba_24_3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h64e517a2710f27ba_24_3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h64e517a2710f27ba_24_3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h64e517a2710f27ba_24_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h64e517a2710f27ba_24_3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" name="Google Shape;714;h64e517a2710f27ba_24_3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h64e517a2710f27ba_24_3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h64e517a2710f27ba_24_3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h64e517a2710f27ba_24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h64e517a2710f27ba_24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h64e517a2710f27ba_24_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h64e517a2710f27ba_24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h64e517a2710f27ba_24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h64e517a2710f27ba_24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h64e517a2710f27ba_24_4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h64e517a2710f27ba_24_4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h64e517a2710f27ba_24_4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h64e517a2710f27ba_24_4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h64e517a2710f27ba_24_4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5" name="Google Shape;785;h64e517a2710f27ba_24_4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h64e517a2710f27ba_24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h64e517a2710f27ba_24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h64e517a2710f27ba_24_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1" name="Google Shape;801;h64e517a2710f27ba_24_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" name="Google Shape;19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20" name="Google Shape;20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" name="Google Shape;21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" name="Google Shape;24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" name="Google Shape;25;p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" name="Google Shape;32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4" name="Google Shape;34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" name="Google Shape;35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9" name="Google Shape;39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0" name="Google Shape;40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1" name="Google Shape;41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2" name="Google Shape;42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4" name="Google Shape;44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" name="Google Shape;45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6" name="Google Shape;46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7" name="Google Shape;47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8" name="Google Shape;48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9" name="Google Shape;49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0" name="Google Shape;50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1" name="Google Shape;51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4" name="Google Shape;54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6" name="Google Shape;56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7" name="Google Shape;57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8" name="Google Shape;58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9" name="Google Shape;59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" name="Google Shape;60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2" name="Google Shape;62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" name="Google Shape;63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4" name="Google Shape;64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" name="Google Shape;65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" name="Google Shape;66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9" name="Google Shape;69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73" name="Google Shape;73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" name="Google Shape;74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5" name="Google Shape;75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6" name="Google Shape;76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8" name="Google Shape;78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9" name="Google Shape;79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" name="Google Shape;80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7" name="Google Shape;87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" name="Google Shape;88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4" name="Google Shape;94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" name="Google Shape;95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" name="Google Shape;97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" name="Google Shape;99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7" name="Google Shape;107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8" name="Google Shape;108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0" name="Google Shape;110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1" name="Google Shape;111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2" name="Google Shape;112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4" name="Google Shape;114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5" name="Google Shape;115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7" name="Google Shape;117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8" name="Google Shape;118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9" name="Google Shape;119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0" name="Google Shape;120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21" name="Google Shape;121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2" name="Google Shape;122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3" name="Google Shape;123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24" name="Google Shape;124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25" name="Google Shape;125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26" name="Google Shape;126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" name="Google Shape;129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33" name="Google Shape;133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6" name="Google Shape;136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37" name="Google Shape;137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" name="Google Shape;138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9" name="Google Shape;139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0" name="Google Shape;140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45" name="Google Shape;145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46" name="Google Shape;146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47" name="Google Shape;147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48" name="Google Shape;148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9" name="Google Shape;149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50" name="Google Shape;150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1" name="Google Shape;151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3" name="Google Shape;153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4" name="Google Shape;154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5" name="Google Shape;155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7" name="Google Shape;157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8" name="Google Shape;158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9" name="Google Shape;159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0" name="Google Shape;160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1" name="Google Shape;161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62" name="Google Shape;162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63" name="Google Shape;163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4" name="Google Shape;164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5" name="Google Shape;165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66" name="Google Shape;166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7" name="Google Shape;167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9" name="Google Shape;169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71" name="Google Shape;17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2" name="Google Shape;17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3" name="Google Shape;17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4" name="Google Shape;17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5" name="Google Shape;17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77" name="Google Shape;17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8" name="Google Shape;17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9" name="Google Shape;17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0" name="Google Shape;18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85" name="Google Shape;185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86" name="Google Shape;186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7" name="Google Shape;187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8" name="Google Shape;188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9" name="Google Shape;189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0" name="Google Shape;190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91" name="Google Shape;191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2" name="Google Shape;192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3" name="Google Shape;193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4" name="Google Shape;194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97" name="Google Shape;197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8" name="Google Shape;198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9" name="Google Shape;199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0" name="Google Shape;200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1" name="Google Shape;201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2" name="Google Shape;202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3" name="Google Shape;203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4" name="Google Shape;204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05" name="Google Shape;205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7" name="Google Shape;207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8" name="Google Shape;208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09" name="Google Shape;209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210" name="Google Shape;210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11" name="Google Shape;211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12" name="Google Shape;212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4" name="Google Shape;214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17" name="Google Shape;217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20" name="Google Shape;220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1" name="Google Shape;221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22" name="Google Shape;222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3" name="Google Shape;223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4" name="Google Shape;224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25" name="Google Shape;225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6" name="Google Shape;226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7" name="Google Shape;227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28" name="Google Shape;228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9" name="Google Shape;229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0" name="Google Shape;230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1" name="Google Shape;231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2" name="Google Shape;232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3" name="Google Shape;233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5" name="Google Shape;235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8" name="Google Shape;238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2" name="Google Shape;242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3" name="Google Shape;243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44" name="Google Shape;244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5" name="Google Shape;245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6" name="Google Shape;246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47" name="Google Shape;247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8" name="Google Shape;248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9" name="Google Shape;249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0" name="Google Shape;250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1" name="Google Shape;251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2" name="Google Shape;252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3" name="Google Shape;253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54" name="Google Shape;254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5" name="Google Shape;255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6" name="Google Shape;256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8" name="Google Shape;258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1" name="Google Shape;261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2" name="Google Shape;262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3" name="Google Shape;263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4" name="Google Shape;264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5" name="Google Shape;265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6" name="Google Shape;266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7" name="Google Shape;267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69" name="Google Shape;269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0" name="Google Shape;270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1" name="Google Shape;271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2" name="Google Shape;272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3" name="Google Shape;273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6" name="Google Shape;276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7" name="Google Shape;277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78" name="Google Shape;278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9" name="Google Shape;279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2" name="Google Shape;282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3" name="Google Shape;283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6" name="Google Shape;286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7" name="Google Shape;287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88" name="Google Shape;288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1" name="Google Shape;291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2" name="Google Shape;292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93" name="Google Shape;293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94" name="Google Shape;294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95" name="Google Shape;295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6" name="Google Shape;296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7" name="Google Shape;297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8" name="Google Shape;298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9" name="Google Shape;299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0" name="Google Shape;300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2" name="Google Shape;302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4" name="Google Shape;304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307" name="Google Shape;307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08" name="Google Shape;308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9" name="Google Shape;309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0" name="Google Shape;310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2" name="Google Shape;312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4" name="Google Shape;314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15" name="Google Shape;315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16" name="Google Shape;316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17" name="Google Shape;317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8" name="Google Shape;318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19" name="Google Shape;319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0" name="Google Shape;320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1" name="Google Shape;321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23" name="Google Shape;323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24" name="Google Shape;324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25" name="Google Shape;325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26" name="Google Shape;326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27" name="Google Shape;327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28" name="Google Shape;328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29" name="Google Shape;329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30" name="Google Shape;330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31" name="Google Shape;331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2" name="Google Shape;332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3" name="Google Shape;333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36" name="Google Shape;336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37" name="Google Shape;337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38" name="Google Shape;338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9" name="Google Shape;339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41" name="Google Shape;341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43" name="Google Shape;343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44" name="Google Shape;344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5" name="Google Shape;345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46" name="Google Shape;346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47" name="Google Shape;347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8" name="Google Shape;348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49" name="Google Shape;349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50" name="Google Shape;350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1" name="Google Shape;351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54" name="Google Shape;354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55" name="Google Shape;355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58" name="Google Shape;358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1" name="Google Shape;361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62" name="Google Shape;362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5" name="Google Shape;365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66" name="Google Shape;366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67" name="Google Shape;367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0" name="Google Shape;370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3" name="Google Shape;373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4" name="Google Shape;374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7" name="Google Shape;377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0" name="Google Shape;380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1" name="Google Shape;381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  <p:sp>
        <p:nvSpPr>
          <p:cNvPr id="385" name="Google Shape;385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88" name="Google Shape;388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9" name="Google Shape;389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8" name="Google Shape;39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9" name="Google Shape;39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0" name="Google Shape;400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3" name="Google Shape;403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4" name="Google Shape;404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8" name="Google Shape;408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9" name="Google Shape;409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0" name="Google Shape;410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1" name="Google Shape;411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2" name="Google Shape;412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5" name="Google Shape;415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8" name="Google Shape;418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19" name="Google Shape;419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0" name="Google Shape;420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1" name="Google Shape;421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4" name="Google Shape;424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5" name="Google Shape;425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6" name="Google Shape;426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7" name="Google Shape;427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28" name="Google Shape;428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29" name="Google Shape;429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0" name="Google Shape;430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1" name="Google Shape;431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32" name="Google Shape;432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5" name="Google Shape;435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  <p:sp>
        <p:nvSpPr>
          <p:cNvPr id="436" name="Google Shape;436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39" name="Google Shape;439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40" name="Google Shape;440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41" name="Google Shape;441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2" name="Google Shape;442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3" name="Google Shape;443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44" name="Google Shape;444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45" name="Google Shape;445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8" name="Google Shape;448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49" name="Google Shape;449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1" name="Google Shape;451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2" name="Google Shape;452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3" name="Google Shape;453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4" name="Google Shape;454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5" name="Google Shape;455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6" name="Google Shape;456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57" name="Google Shape;457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3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3" name="Google Shape;463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4" name="Google Shape;464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5" name="Google Shape;465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6" name="Google Shape;466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7" name="Google Shape;467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69" name="Google Shape;469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2" name="Google Shape;472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2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1"/>
          <p:cNvSpPr/>
          <p:nvPr/>
        </p:nvSpPr>
        <p:spPr>
          <a:xfrm>
            <a:off x="228600" y="4113375"/>
            <a:ext cx="2101200" cy="339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78" name="Google Shape;478;p41"/>
          <p:cNvSpPr txBox="1"/>
          <p:nvPr>
            <p:ph type="title"/>
          </p:nvPr>
        </p:nvSpPr>
        <p:spPr>
          <a:xfrm>
            <a:off x="228600" y="186225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>
                <a:solidFill>
                  <a:schemeClr val="lt1"/>
                </a:solidFill>
              </a:rPr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>
                <a:solidFill>
                  <a:schemeClr val="lt1"/>
                </a:solidFill>
              </a:rPr>
              <a:t> Applications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79" name="Google Shape;479;p4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Syria Tech Meetup</a:t>
            </a:r>
            <a:endParaRPr/>
          </a:p>
        </p:txBody>
      </p:sp>
      <p:sp>
        <p:nvSpPr>
          <p:cNvPr id="480" name="Google Shape;480;p4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481" name="Google Shape;481;p41"/>
          <p:cNvSpPr txBox="1"/>
          <p:nvPr>
            <p:ph idx="5" type="subTitle"/>
          </p:nvPr>
        </p:nvSpPr>
        <p:spPr>
          <a:xfrm>
            <a:off x="297075" y="4175900"/>
            <a:ext cx="19521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Waseem Kntar, Tech Lead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2"/>
          <p:cNvSpPr/>
          <p:nvPr/>
        </p:nvSpPr>
        <p:spPr>
          <a:xfrm>
            <a:off x="320625" y="913325"/>
            <a:ext cx="42969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7" name="Google Shape;487;p42"/>
          <p:cNvSpPr/>
          <p:nvPr/>
        </p:nvSpPr>
        <p:spPr>
          <a:xfrm>
            <a:off x="320625" y="1591100"/>
            <a:ext cx="42966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8" name="Google Shape;488;p42"/>
          <p:cNvSpPr/>
          <p:nvPr/>
        </p:nvSpPr>
        <p:spPr>
          <a:xfrm>
            <a:off x="320625" y="2268900"/>
            <a:ext cx="42966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9" name="Google Shape;489;p42"/>
          <p:cNvSpPr/>
          <p:nvPr/>
        </p:nvSpPr>
        <p:spPr>
          <a:xfrm>
            <a:off x="320625" y="2946675"/>
            <a:ext cx="42969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0" name="Google Shape;490;p42"/>
          <p:cNvSpPr/>
          <p:nvPr/>
        </p:nvSpPr>
        <p:spPr>
          <a:xfrm>
            <a:off x="320625" y="3624475"/>
            <a:ext cx="4296600" cy="605700"/>
          </a:xfrm>
          <a:prstGeom prst="roundRect">
            <a:avLst>
              <a:gd fmla="val 1699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491" name="Google Shape;491;p42"/>
          <p:cNvGrpSpPr/>
          <p:nvPr/>
        </p:nvGrpSpPr>
        <p:grpSpPr>
          <a:xfrm rot="-5400000">
            <a:off x="4219480" y="1154125"/>
            <a:ext cx="204654" cy="204654"/>
            <a:chOff x="259788" y="1923155"/>
            <a:chExt cx="409800" cy="409800"/>
          </a:xfrm>
        </p:grpSpPr>
        <p:sp>
          <p:nvSpPr>
            <p:cNvPr id="492" name="Google Shape;492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493" name="Google Shape;493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494" name="Google Shape;494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495" name="Google Shape;495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496" name="Google Shape;496;p42"/>
          <p:cNvGrpSpPr/>
          <p:nvPr/>
        </p:nvGrpSpPr>
        <p:grpSpPr>
          <a:xfrm rot="-5400000">
            <a:off x="4219480" y="1831910"/>
            <a:ext cx="204654" cy="204654"/>
            <a:chOff x="259788" y="1923155"/>
            <a:chExt cx="409800" cy="409800"/>
          </a:xfrm>
        </p:grpSpPr>
        <p:sp>
          <p:nvSpPr>
            <p:cNvPr id="497" name="Google Shape;497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498" name="Google Shape;498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499" name="Google Shape;499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00" name="Google Shape;500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501" name="Google Shape;501;p42"/>
          <p:cNvGrpSpPr/>
          <p:nvPr/>
        </p:nvGrpSpPr>
        <p:grpSpPr>
          <a:xfrm rot="-5400000">
            <a:off x="4219480" y="2509695"/>
            <a:ext cx="204654" cy="204654"/>
            <a:chOff x="259788" y="1923155"/>
            <a:chExt cx="409800" cy="409800"/>
          </a:xfrm>
        </p:grpSpPr>
        <p:sp>
          <p:nvSpPr>
            <p:cNvPr id="502" name="Google Shape;502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03" name="Google Shape;503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504" name="Google Shape;504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05" name="Google Shape;505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506" name="Google Shape;506;p42"/>
          <p:cNvGrpSpPr/>
          <p:nvPr/>
        </p:nvGrpSpPr>
        <p:grpSpPr>
          <a:xfrm rot="-5400000">
            <a:off x="4219480" y="3187480"/>
            <a:ext cx="204654" cy="204654"/>
            <a:chOff x="259788" y="1923155"/>
            <a:chExt cx="409800" cy="409800"/>
          </a:xfrm>
        </p:grpSpPr>
        <p:sp>
          <p:nvSpPr>
            <p:cNvPr id="507" name="Google Shape;507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08" name="Google Shape;508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509" name="Google Shape;509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10" name="Google Shape;510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grpSp>
        <p:nvGrpSpPr>
          <p:cNvPr id="511" name="Google Shape;511;p42"/>
          <p:cNvGrpSpPr/>
          <p:nvPr/>
        </p:nvGrpSpPr>
        <p:grpSpPr>
          <a:xfrm rot="-5400000">
            <a:off x="4219480" y="3865265"/>
            <a:ext cx="204654" cy="204654"/>
            <a:chOff x="259788" y="1923155"/>
            <a:chExt cx="409800" cy="409800"/>
          </a:xfrm>
        </p:grpSpPr>
        <p:sp>
          <p:nvSpPr>
            <p:cNvPr id="512" name="Google Shape;512;p42"/>
            <p:cNvSpPr/>
            <p:nvPr/>
          </p:nvSpPr>
          <p:spPr>
            <a:xfrm>
              <a:off x="259788" y="1923155"/>
              <a:ext cx="409800" cy="409800"/>
            </a:xfrm>
            <a:prstGeom prst="ellipse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13" name="Google Shape;513;p42"/>
            <p:cNvGrpSpPr/>
            <p:nvPr/>
          </p:nvGrpSpPr>
          <p:grpSpPr>
            <a:xfrm>
              <a:off x="362088" y="2093825"/>
              <a:ext cx="205200" cy="102600"/>
              <a:chOff x="498725" y="2069800"/>
              <a:chExt cx="205200" cy="102600"/>
            </a:xfrm>
          </p:grpSpPr>
          <p:cxnSp>
            <p:nvCxnSpPr>
              <p:cNvPr id="514" name="Google Shape;514;p4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515" name="Google Shape;515;p4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516" name="Google Shape;516;p42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2/30</a:t>
            </a:r>
            <a:endParaRPr/>
          </a:p>
        </p:txBody>
      </p:sp>
      <p:sp>
        <p:nvSpPr>
          <p:cNvPr id="517" name="Google Shape;517;p42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18" name="Google Shape;518;p42"/>
          <p:cNvSpPr txBox="1"/>
          <p:nvPr>
            <p:ph type="title"/>
          </p:nvPr>
        </p:nvSpPr>
        <p:spPr>
          <a:xfrm>
            <a:off x="277500" y="228600"/>
            <a:ext cx="39045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</a:t>
            </a:r>
            <a:endParaRPr/>
          </a:p>
        </p:txBody>
      </p:sp>
      <p:sp>
        <p:nvSpPr>
          <p:cNvPr id="519" name="Google Shape;519;p42"/>
          <p:cNvSpPr txBox="1"/>
          <p:nvPr>
            <p:ph idx="4" type="subTitle"/>
          </p:nvPr>
        </p:nvSpPr>
        <p:spPr>
          <a:xfrm>
            <a:off x="446250" y="1071875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</a:t>
            </a:r>
            <a:endParaRPr/>
          </a:p>
        </p:txBody>
      </p:sp>
      <p:sp>
        <p:nvSpPr>
          <p:cNvPr id="520" name="Google Shape;520;p42"/>
          <p:cNvSpPr txBox="1"/>
          <p:nvPr>
            <p:ph idx="5" type="subTitle"/>
          </p:nvPr>
        </p:nvSpPr>
        <p:spPr>
          <a:xfrm>
            <a:off x="446250" y="1748813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endParaRPr/>
          </a:p>
        </p:txBody>
      </p:sp>
      <p:sp>
        <p:nvSpPr>
          <p:cNvPr id="521" name="Google Shape;521;p42"/>
          <p:cNvSpPr txBox="1"/>
          <p:nvPr>
            <p:ph idx="6" type="subTitle"/>
          </p:nvPr>
        </p:nvSpPr>
        <p:spPr>
          <a:xfrm>
            <a:off x="446250" y="2425750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/>
          </a:p>
        </p:txBody>
      </p:sp>
      <p:sp>
        <p:nvSpPr>
          <p:cNvPr id="522" name="Google Shape;522;p42"/>
          <p:cNvSpPr txBox="1"/>
          <p:nvPr>
            <p:ph idx="7" type="subTitle"/>
          </p:nvPr>
        </p:nvSpPr>
        <p:spPr>
          <a:xfrm>
            <a:off x="446250" y="3107031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endParaRPr/>
          </a:p>
        </p:txBody>
      </p:sp>
      <p:sp>
        <p:nvSpPr>
          <p:cNvPr id="523" name="Google Shape;523;p42"/>
          <p:cNvSpPr txBox="1"/>
          <p:nvPr>
            <p:ph idx="8" type="subTitle"/>
          </p:nvPr>
        </p:nvSpPr>
        <p:spPr>
          <a:xfrm>
            <a:off x="446250" y="3781331"/>
            <a:ext cx="322500" cy="288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endParaRPr/>
          </a:p>
        </p:txBody>
      </p:sp>
      <p:sp>
        <p:nvSpPr>
          <p:cNvPr id="524" name="Google Shape;524;p42"/>
          <p:cNvSpPr txBox="1"/>
          <p:nvPr>
            <p:ph idx="13" type="subTitle"/>
          </p:nvPr>
        </p:nvSpPr>
        <p:spPr>
          <a:xfrm>
            <a:off x="768750" y="1071875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&amp; Why Reliability ?</a:t>
            </a:r>
            <a:endParaRPr/>
          </a:p>
        </p:txBody>
      </p:sp>
      <p:sp>
        <p:nvSpPr>
          <p:cNvPr id="525" name="Google Shape;525;p42"/>
          <p:cNvSpPr txBox="1"/>
          <p:nvPr>
            <p:ph idx="14" type="subTitle"/>
          </p:nvPr>
        </p:nvSpPr>
        <p:spPr>
          <a:xfrm>
            <a:off x="768750" y="1748813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Get, Create Leads</a:t>
            </a:r>
            <a:endParaRPr/>
          </a:p>
        </p:txBody>
      </p:sp>
      <p:sp>
        <p:nvSpPr>
          <p:cNvPr id="526" name="Google Shape;526;p42"/>
          <p:cNvSpPr txBox="1"/>
          <p:nvPr>
            <p:ph idx="15" type="subTitle"/>
          </p:nvPr>
        </p:nvSpPr>
        <p:spPr>
          <a:xfrm>
            <a:off x="768750" y="2425750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Sending WhatsApp Messages </a:t>
            </a:r>
            <a:endParaRPr/>
          </a:p>
        </p:txBody>
      </p:sp>
      <p:sp>
        <p:nvSpPr>
          <p:cNvPr id="527" name="Google Shape;527;p42"/>
          <p:cNvSpPr txBox="1"/>
          <p:nvPr>
            <p:ph idx="16" type="subTitle"/>
          </p:nvPr>
        </p:nvSpPr>
        <p:spPr>
          <a:xfrm>
            <a:off x="768750" y="3107031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Webhooks Handling</a:t>
            </a:r>
            <a:endParaRPr/>
          </a:p>
        </p:txBody>
      </p:sp>
      <p:sp>
        <p:nvSpPr>
          <p:cNvPr id="528" name="Google Shape;528;p42"/>
          <p:cNvSpPr txBox="1"/>
          <p:nvPr>
            <p:ph idx="17" type="subTitle"/>
          </p:nvPr>
        </p:nvSpPr>
        <p:spPr>
          <a:xfrm>
            <a:off x="768750" y="3781331"/>
            <a:ext cx="3267600" cy="28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Safe Deployment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43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34" name="Google Shape;534;p43"/>
          <p:cNvSpPr txBox="1"/>
          <p:nvPr>
            <p:ph type="title"/>
          </p:nvPr>
        </p:nvSpPr>
        <p:spPr>
          <a:xfrm>
            <a:off x="228600" y="640925"/>
            <a:ext cx="46377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Reliability?</a:t>
            </a:r>
            <a:endParaRPr/>
          </a:p>
        </p:txBody>
      </p:sp>
      <p:pic>
        <p:nvPicPr>
          <p:cNvPr descr="A luminous galaxy." id="535" name="Google Shape;535;p4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26224" r="26224" t="0"/>
          <a:stretch/>
        </p:blipFill>
        <p:spPr>
          <a:xfrm>
            <a:off x="5342000" y="457200"/>
            <a:ext cx="3573300" cy="3995400"/>
          </a:xfrm>
          <a:prstGeom prst="roundRect">
            <a:avLst>
              <a:gd fmla="val 16667" name="adj"/>
            </a:avLst>
          </a:prstGeom>
        </p:spPr>
      </p:pic>
      <p:sp>
        <p:nvSpPr>
          <p:cNvPr id="536" name="Google Shape;536;p43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37" name="Google Shape;537;p43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3/30</a:t>
            </a:r>
            <a:endParaRPr/>
          </a:p>
        </p:txBody>
      </p:sp>
      <p:sp>
        <p:nvSpPr>
          <p:cNvPr id="538" name="Google Shape;538;p43"/>
          <p:cNvSpPr txBox="1"/>
          <p:nvPr/>
        </p:nvSpPr>
        <p:spPr>
          <a:xfrm>
            <a:off x="277775" y="1254500"/>
            <a:ext cx="4776000" cy="3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System should continue to work correctly (performing the correct function under the desired level of performance),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Even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in the face of adversity (hardware faults, software bugs or even human errors).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Source: Designing Data-intensive Applications Book p. 6</a:t>
            </a:r>
            <a:endParaRPr i="1" sz="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4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44" name="Google Shape;544;p44"/>
          <p:cNvSpPr txBox="1"/>
          <p:nvPr>
            <p:ph type="title"/>
          </p:nvPr>
        </p:nvSpPr>
        <p:spPr>
          <a:xfrm>
            <a:off x="228600" y="640925"/>
            <a:ext cx="4637700" cy="53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Reliability?</a:t>
            </a:r>
            <a:endParaRPr/>
          </a:p>
        </p:txBody>
      </p:sp>
      <p:sp>
        <p:nvSpPr>
          <p:cNvPr id="545" name="Google Shape;545;p44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46" name="Google Shape;546;p44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4/30</a:t>
            </a:r>
            <a:endParaRPr/>
          </a:p>
        </p:txBody>
      </p:sp>
      <p:sp>
        <p:nvSpPr>
          <p:cNvPr id="547" name="Google Shape;547;p44"/>
          <p:cNvSpPr txBox="1"/>
          <p:nvPr/>
        </p:nvSpPr>
        <p:spPr>
          <a:xfrm>
            <a:off x="277775" y="1254500"/>
            <a:ext cx="4776000" cy="32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Secret Management App Data loss:</a:t>
            </a:r>
            <a:endParaRPr b="1"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Users will not be nice if their data are lost ! and could cost you a high penalty.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Payment Service Bug:</a:t>
            </a:r>
            <a:endParaRPr b="1"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Users can lost money ! or charged many times, a real harm for them can cost your company a lot or could even close it entirely.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5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53" name="Google Shape;553;p45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#1: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>
                <a:solidFill>
                  <a:srgbClr val="00FFFF"/>
                </a:solidFill>
              </a:rPr>
            </a:br>
            <a:r>
              <a:rPr lang="en">
                <a:solidFill>
                  <a:srgbClr val="00FFFF"/>
                </a:solidFill>
              </a:rPr>
              <a:t>Get, Create Leads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554" name="Google Shape;554;p45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55" name="Google Shape;555;p45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5/30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6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61" name="Google Shape;561;p46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62" name="Google Shape;562;p46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6/30</a:t>
            </a:r>
            <a:endParaRPr/>
          </a:p>
        </p:txBody>
      </p:sp>
      <p:sp>
        <p:nvSpPr>
          <p:cNvPr id="563" name="Google Shape;563;p46"/>
          <p:cNvSpPr txBox="1"/>
          <p:nvPr/>
        </p:nvSpPr>
        <p:spPr>
          <a:xfrm>
            <a:off x="2141550" y="355420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What problems this code could have?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64" name="Google Shape;56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6150" y="588850"/>
            <a:ext cx="7031700" cy="3354476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46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47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71" name="Google Shape;571;p47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72" name="Google Shape;572;p47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7/30</a:t>
            </a:r>
            <a:endParaRPr/>
          </a:p>
        </p:txBody>
      </p:sp>
      <p:sp>
        <p:nvSpPr>
          <p:cNvPr id="573" name="Google Shape;573;p47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#1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74" name="Google Shape;574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1688" y="1518225"/>
            <a:ext cx="4416824" cy="2107049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47"/>
          <p:cNvSpPr txBox="1"/>
          <p:nvPr/>
        </p:nvSpPr>
        <p:spPr>
          <a:xfrm>
            <a:off x="228600" y="1892388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if some exception happened during the process,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others leads from other customers may be blocked.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6" name="Google Shape;576;p47"/>
          <p:cNvSpPr txBox="1"/>
          <p:nvPr/>
        </p:nvSpPr>
        <p:spPr>
          <a:xfrm>
            <a:off x="290850" y="3435425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Example: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Not valid lead data, request timeout, response parsing error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7" name="Google Shape;577;p47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83" name="Google Shape;583;p48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84" name="Google Shape;584;p4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8/30</a:t>
            </a:r>
            <a:endParaRPr/>
          </a:p>
        </p:txBody>
      </p:sp>
      <p:sp>
        <p:nvSpPr>
          <p:cNvPr id="585" name="Google Shape;585;p48"/>
          <p:cNvSpPr txBox="1"/>
          <p:nvPr/>
        </p:nvSpPr>
        <p:spPr>
          <a:xfrm>
            <a:off x="228600" y="1714425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Error handling is required here,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Log the error, set an alert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continue with the other customers’ leads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86" name="Google Shape;586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2200" y="713913"/>
            <a:ext cx="3655799" cy="3715671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48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588" name="Google Shape;588;p48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#1: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594" name="Google Shape;594;p49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595" name="Google Shape;595;p4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9/30</a:t>
            </a:r>
            <a:endParaRPr/>
          </a:p>
        </p:txBody>
      </p:sp>
      <p:sp>
        <p:nvSpPr>
          <p:cNvPr id="596" name="Google Shape;596;p49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This task can create a lead twice!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Another worker pick the next get_and_create_leads when this one is not finished yet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Or when the task is retried for some reason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7" name="Google Shape;597;p49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598" name="Google Shape;598;p49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#2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9" name="Google Shape;599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2200" y="713913"/>
            <a:ext cx="3655799" cy="3715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50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05" name="Google Shape;605;p50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06" name="Google Shape;606;p50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10/30</a:t>
            </a:r>
            <a:endParaRPr/>
          </a:p>
        </p:txBody>
      </p:sp>
      <p:sp>
        <p:nvSpPr>
          <p:cNvPr id="607" name="Google Shape;607;p50"/>
          <p:cNvSpPr txBox="1"/>
          <p:nvPr/>
        </p:nvSpPr>
        <p:spPr>
          <a:xfrm>
            <a:off x="228600" y="1714425"/>
            <a:ext cx="4077900" cy="101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 get_or_create instead of create, but with a UNIQUE db constraint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8" name="Google Shape;608;p50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09" name="Google Shape;609;p50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#2: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10" name="Google Shape;610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5625" y="387138"/>
            <a:ext cx="3655801" cy="4203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51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16" name="Google Shape;616;p51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17" name="Google Shape;617;p51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11/30</a:t>
            </a:r>
            <a:endParaRPr/>
          </a:p>
        </p:txBody>
      </p:sp>
      <p:sp>
        <p:nvSpPr>
          <p:cNvPr id="618" name="Google Shape;618;p51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Task can take long time, and exceeds worker time limit!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It will be killed before getting all leads.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- This task can block other fast track tasks because of its long running time!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9" name="Google Shape;619;p51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20" name="Google Shape;620;p51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#3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21" name="Google Shape;62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5625" y="387138"/>
            <a:ext cx="3655801" cy="4203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5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27" name="Google Shape;627;p5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28" name="Google Shape;628;p5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12/30</a:t>
            </a:r>
            <a:endParaRPr/>
          </a:p>
        </p:txBody>
      </p:sp>
      <p:sp>
        <p:nvSpPr>
          <p:cNvPr id="629" name="Google Shape;629;p52"/>
          <p:cNvSpPr txBox="1"/>
          <p:nvPr/>
        </p:nvSpPr>
        <p:spPr>
          <a:xfrm>
            <a:off x="228600" y="1714425"/>
            <a:ext cx="4296300" cy="26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Optimization: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Urbanist"/>
              <a:buChar char="-"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Do it in batches, each batch could have 10 customers for example.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Urbanist"/>
              <a:buChar char="-"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Create leads in bulk instead of one by one, this could produce a significant improvement (add ignore_conflicts).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Urbanist"/>
              <a:buChar char="-"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Create a special queue for long running tasks to avoid blocking the fast track tasks.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0" name="Google Shape;630;p52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31" name="Google Shape;631;p52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53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37" name="Google Shape;637;p53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38" name="Google Shape;638;p53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13/30</a:t>
            </a:r>
            <a:endParaRPr/>
          </a:p>
        </p:txBody>
      </p:sp>
      <p:sp>
        <p:nvSpPr>
          <p:cNvPr id="639" name="Google Shape;639;p53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Scheduler publishes this task every 30 seconds, even when the previous execution is still running.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Another worker can therefore execute the same synchronization concurrently and attempt to create the same leads.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0" name="Google Shape;640;p53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41" name="Google Shape;641;p53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#4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42" name="Google Shape;642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5625" y="387138"/>
            <a:ext cx="3655801" cy="4203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54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48" name="Google Shape;648;p54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49" name="Google Shape;649;p54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14/30</a:t>
            </a:r>
            <a:endParaRPr/>
          </a:p>
        </p:txBody>
      </p:sp>
      <p:sp>
        <p:nvSpPr>
          <p:cNvPr id="650" name="Google Shape;650;p54"/>
          <p:cNvSpPr txBox="1"/>
          <p:nvPr/>
        </p:nvSpPr>
        <p:spPr>
          <a:xfrm>
            <a:off x="296850" y="1410463"/>
            <a:ext cx="57156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Distributed lock</a:t>
            </a: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Use a distributed lock with one stable key, such as: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locks:sync_all_leads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Acquire it atomically with SET NX EX, use a unique ownership token,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release it only if the token still belongs to this worker.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expiration prevents a crashed worker from leaving a stale lock.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However, the lock is not the primary protection against duplicates.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Lead creation must still be idempotent and protected by a database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unique constraint because locks can expire or fail.</a:t>
            </a:r>
            <a:endParaRPr sz="1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1" name="Google Shape;651;p54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Get, Create Leads</a:t>
            </a:r>
            <a:endParaRPr sz="1100"/>
          </a:p>
        </p:txBody>
      </p:sp>
      <p:sp>
        <p:nvSpPr>
          <p:cNvPr id="652" name="Google Shape;652;p54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#4: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luminous galaxy in space. " id="657" name="Google Shape;657;p55"/>
          <p:cNvPicPr preferRelativeResize="0"/>
          <p:nvPr/>
        </p:nvPicPr>
        <p:blipFill rotWithShape="1">
          <a:blip r:embed="rId3">
            <a:alphaModFix amt="50000"/>
          </a:blip>
          <a:srcRect b="1961" l="0" r="0" t="6840"/>
          <a:stretch/>
        </p:blipFill>
        <p:spPr>
          <a:xfrm>
            <a:off x="0" y="-3250"/>
            <a:ext cx="9144003" cy="4686976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55"/>
          <p:cNvSpPr txBox="1"/>
          <p:nvPr>
            <p:ph type="title"/>
          </p:nvPr>
        </p:nvSpPr>
        <p:spPr>
          <a:xfrm>
            <a:off x="320625" y="1782838"/>
            <a:ext cx="44322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Less of Reliability is a less of imagination</a:t>
            </a:r>
            <a:endParaRPr sz="2200">
              <a:solidFill>
                <a:schemeClr val="accent3"/>
              </a:solidFill>
            </a:endParaRPr>
          </a:p>
        </p:txBody>
      </p:sp>
      <p:sp>
        <p:nvSpPr>
          <p:cNvPr id="659" name="Google Shape;659;p55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60" name="Google Shape;660;p55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15</a:t>
            </a:r>
            <a:r>
              <a:rPr lang="en"/>
              <a:t>/30</a:t>
            </a:r>
            <a:endParaRPr/>
          </a:p>
        </p:txBody>
      </p:sp>
      <p:sp>
        <p:nvSpPr>
          <p:cNvPr id="661" name="Google Shape;661;p55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6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67" name="Google Shape;667;p56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#2: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FFFF"/>
                </a:solidFill>
              </a:rPr>
              <a:t>Sending WhatsApp Messages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668" name="Google Shape;668;p56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69" name="Google Shape;669;p56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16/30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57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75" name="Google Shape;675;p57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76" name="Google Shape;676;p57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17/30</a:t>
            </a:r>
            <a:endParaRPr/>
          </a:p>
        </p:txBody>
      </p:sp>
      <p:sp>
        <p:nvSpPr>
          <p:cNvPr id="677" name="Google Shape;677;p57"/>
          <p:cNvSpPr txBox="1"/>
          <p:nvPr/>
        </p:nvSpPr>
        <p:spPr>
          <a:xfrm>
            <a:off x="4022825" y="2053175"/>
            <a:ext cx="3692400" cy="154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What problems this code could have?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8" name="Google Shape;678;p57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679" name="Google Shape;679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950" y="7807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5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85" name="Google Shape;685;p58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86" name="Google Shape;686;p5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18/30</a:t>
            </a:r>
            <a:endParaRPr/>
          </a:p>
        </p:txBody>
      </p:sp>
      <p:sp>
        <p:nvSpPr>
          <p:cNvPr id="687" name="Google Shape;687;p58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Sending to WhatsApp fails: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If the message is created in the db but the sending to WhatsApp fails,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message will be stuck in PENDING status and will never be sent.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8" name="Google Shape;688;p58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#1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9" name="Google Shape;689;p58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690" name="Google Shape;69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4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5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696" name="Google Shape;696;p59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697" name="Google Shape;697;p5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19/30</a:t>
            </a:r>
            <a:endParaRPr/>
          </a:p>
        </p:txBody>
      </p:sp>
      <p:sp>
        <p:nvSpPr>
          <p:cNvPr id="698" name="Google Shape;698;p59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Retry: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we can use a retry mechanism to retry sending the message if it fails,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</a:b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set that in the status of the message to FAILED if it fails after a certain number of retries, 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</a:b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we can have a separate task to retry sending the failed messages.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9" name="Google Shape;699;p59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#1: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0" name="Google Shape;700;p59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60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06" name="Google Shape;706;p60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07" name="Google Shape;707;p60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20/30</a:t>
            </a:r>
            <a:endParaRPr/>
          </a:p>
        </p:txBody>
      </p:sp>
      <p:sp>
        <p:nvSpPr>
          <p:cNvPr id="708" name="Google Shape;708;p60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Sending to WA can cost time!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This can slow down the system.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9" name="Google Shape;709;p60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#2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0" name="Google Shape;710;p60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11" name="Google Shape;711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61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17" name="Google Shape;717;p61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18" name="Google Shape;718;p61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  <p:sp>
        <p:nvSpPr>
          <p:cNvPr id="719" name="Google Shape;719;p61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Make it a background job: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we can use a separate task to send the message to WhatsApp in background.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0" name="Google Shape;720;p61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#2: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1" name="Google Shape;721;p61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22" name="Google Shape;722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6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28" name="Google Shape;728;p6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29" name="Google Shape;729;p6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  <p:sp>
        <p:nvSpPr>
          <p:cNvPr id="730" name="Google Shape;730;p62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Sending task may crash or fail during the execution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1" name="Google Shape;731;p62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FFFF00"/>
                </a:solidFill>
                <a:latin typeface="Urbanist"/>
                <a:ea typeface="Urbanist"/>
                <a:cs typeface="Urbanist"/>
                <a:sym typeface="Urbanist"/>
              </a:rPr>
              <a:t>Problem #3</a:t>
            </a: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2" name="Google Shape;732;p62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63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38" name="Google Shape;738;p63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39" name="Google Shape;739;p63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  <p:sp>
        <p:nvSpPr>
          <p:cNvPr id="740" name="Google Shape;740;p63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Retry or Sleep ? 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It may help, but it will cause more processing and blocking time for the workers.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And what if the fail keeps happening, how to check the failed sends?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Digging into the logs ?!</a:t>
            </a:r>
            <a:endParaRPr sz="1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1" name="Google Shape;741;p63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2" name="Google Shape;742;p63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43" name="Google Shape;74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3175" y="695550"/>
            <a:ext cx="3320049" cy="385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64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49" name="Google Shape;749;p64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50" name="Google Shape;750;p64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  <p:sp>
        <p:nvSpPr>
          <p:cNvPr id="751" name="Google Shape;751;p64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Outbox Pattern!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simplest </a:t>
            </a:r>
            <a:r>
              <a:rPr lang="en" sz="1200">
                <a:solidFill>
                  <a:srgbClr val="FFC66D"/>
                </a:solidFill>
                <a:latin typeface="Urbanist"/>
                <a:ea typeface="Urbanist"/>
                <a:cs typeface="Urbanist"/>
                <a:sym typeface="Urbanist"/>
              </a:rPr>
              <a:t>definition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of the outbox pattern: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       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 transactional outbox prevents an external action from being forgotten  after a database transaction commits.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It atomically saves the business change and a durable record of the external work that must happen later.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52" name="Google Shape;752;p64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53" name="Google Shape;753;p64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54" name="Google Shape;75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35600" y="1382013"/>
            <a:ext cx="3655803" cy="23794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65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60" name="Google Shape;760;p65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61" name="Google Shape;761;p65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  <p:sp>
        <p:nvSpPr>
          <p:cNvPr id="762" name="Google Shape;762;p65"/>
          <p:cNvSpPr txBox="1"/>
          <p:nvPr/>
        </p:nvSpPr>
        <p:spPr>
          <a:xfrm>
            <a:off x="228600" y="2394888"/>
            <a:ext cx="49548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Outbox Pattern!</a:t>
            </a:r>
            <a:endParaRPr sz="1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There will be a special task to poll outbox entries and send message for each.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63" name="Google Shape;763;p65"/>
          <p:cNvSpPr txBox="1"/>
          <p:nvPr/>
        </p:nvSpPr>
        <p:spPr>
          <a:xfrm>
            <a:off x="228600" y="695550"/>
            <a:ext cx="4954800" cy="7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00FFFF"/>
                </a:solidFill>
                <a:latin typeface="Urbanist"/>
                <a:ea typeface="Urbanist"/>
                <a:cs typeface="Urbanist"/>
                <a:sym typeface="Urbanist"/>
              </a:rPr>
              <a:t>Solution #3:</a:t>
            </a:r>
            <a:endParaRPr sz="1900">
              <a:solidFill>
                <a:srgbClr val="00FFFF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64" name="Google Shape;764;p65"/>
          <p:cNvSpPr txBox="1"/>
          <p:nvPr>
            <p:ph type="title"/>
          </p:nvPr>
        </p:nvSpPr>
        <p:spPr>
          <a:xfrm>
            <a:off x="228600" y="387140"/>
            <a:ext cx="2181600" cy="3936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Sending WhatsApp Messages</a:t>
            </a:r>
            <a:endParaRPr sz="1100"/>
          </a:p>
        </p:txBody>
      </p:sp>
      <p:pic>
        <p:nvPicPr>
          <p:cNvPr id="765" name="Google Shape;765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35600" y="1382013"/>
            <a:ext cx="3655803" cy="23794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luminous galaxy in space. " id="770" name="Google Shape;770;p66"/>
          <p:cNvPicPr preferRelativeResize="0"/>
          <p:nvPr/>
        </p:nvPicPr>
        <p:blipFill rotWithShape="1">
          <a:blip r:embed="rId3">
            <a:alphaModFix amt="50000"/>
          </a:blip>
          <a:srcRect b="1961" l="0" r="0" t="6840"/>
          <a:stretch/>
        </p:blipFill>
        <p:spPr>
          <a:xfrm>
            <a:off x="0" y="-3250"/>
            <a:ext cx="9144003" cy="4686976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66"/>
          <p:cNvSpPr txBox="1"/>
          <p:nvPr>
            <p:ph type="title"/>
          </p:nvPr>
        </p:nvSpPr>
        <p:spPr>
          <a:xfrm>
            <a:off x="320625" y="1567742"/>
            <a:ext cx="4432200" cy="1545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Reliability </a:t>
            </a:r>
            <a:r>
              <a:rPr lang="en">
                <a:solidFill>
                  <a:srgbClr val="FFC66D"/>
                </a:solidFill>
              </a:rPr>
              <a:t>is an additional cost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 sz="2200">
                <a:solidFill>
                  <a:schemeClr val="dk2"/>
                </a:solidFill>
              </a:rPr>
              <a:t>(Complexity, Development time, Performance)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72" name="Google Shape;772;p66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73" name="Google Shape;773;p66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  <p:sp>
        <p:nvSpPr>
          <p:cNvPr id="774" name="Google Shape;774;p6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67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80" name="Google Shape;780;p67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#3: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FFFF"/>
                </a:solidFill>
              </a:rPr>
              <a:t>Webhook Handling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781" name="Google Shape;781;p67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82" name="Google Shape;782;p67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88" name="Google Shape;788;p68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#4: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FFFF"/>
                </a:solidFill>
              </a:rPr>
              <a:t>Safe deployment</a:t>
            </a:r>
            <a:endParaRPr>
              <a:solidFill>
                <a:srgbClr val="00FFFF"/>
              </a:solidFill>
            </a:endParaRPr>
          </a:p>
        </p:txBody>
      </p:sp>
      <p:sp>
        <p:nvSpPr>
          <p:cNvPr id="789" name="Google Shape;789;p68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90" name="Google Shape;790;p6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6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796" name="Google Shape;796;p69"/>
          <p:cNvSpPr txBox="1"/>
          <p:nvPr>
            <p:ph type="title"/>
          </p:nvPr>
        </p:nvSpPr>
        <p:spPr>
          <a:xfrm>
            <a:off x="2253150" y="1858350"/>
            <a:ext cx="4637700" cy="14268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 ?</a:t>
            </a:r>
            <a:endParaRPr/>
          </a:p>
        </p:txBody>
      </p:sp>
      <p:sp>
        <p:nvSpPr>
          <p:cNvPr id="797" name="Google Shape;797;p69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</a:t>
            </a:r>
            <a:r>
              <a:rPr lang="en">
                <a:solidFill>
                  <a:srgbClr val="00FF00"/>
                </a:solidFill>
              </a:rPr>
              <a:t>Reliable</a:t>
            </a:r>
            <a:r>
              <a:rPr lang="en"/>
              <a:t> Applications</a:t>
            </a:r>
            <a:endParaRPr/>
          </a:p>
        </p:txBody>
      </p:sp>
      <p:sp>
        <p:nvSpPr>
          <p:cNvPr id="798" name="Google Shape;798;p6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4/20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70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26 Sep 2026</a:t>
            </a:r>
            <a:endParaRPr/>
          </a:p>
        </p:txBody>
      </p:sp>
      <p:sp>
        <p:nvSpPr>
          <p:cNvPr id="804" name="Google Shape;804;p70"/>
          <p:cNvSpPr txBox="1"/>
          <p:nvPr>
            <p:ph type="title"/>
          </p:nvPr>
        </p:nvSpPr>
        <p:spPr>
          <a:xfrm>
            <a:off x="228600" y="290450"/>
            <a:ext cx="3655800" cy="812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05" name="Google Shape;805;p70"/>
          <p:cNvSpPr/>
          <p:nvPr/>
        </p:nvSpPr>
        <p:spPr>
          <a:xfrm>
            <a:off x="228600" y="3299625"/>
            <a:ext cx="84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70"/>
          <p:cNvSpPr/>
          <p:nvPr/>
        </p:nvSpPr>
        <p:spPr>
          <a:xfrm>
            <a:off x="6080700" y="2888275"/>
            <a:ext cx="2835000" cy="1564500"/>
          </a:xfrm>
          <a:prstGeom prst="roundRect">
            <a:avLst>
              <a:gd fmla="val 12302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07" name="Google Shape;807;p70"/>
          <p:cNvSpPr txBox="1"/>
          <p:nvPr/>
        </p:nvSpPr>
        <p:spPr>
          <a:xfrm>
            <a:off x="6309300" y="3096325"/>
            <a:ext cx="25992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18287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Contact</a:t>
            </a:r>
            <a:r>
              <a:rPr lang="en"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?</a:t>
            </a:r>
            <a:r>
              <a:rPr lang="en"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endParaRPr sz="1800">
              <a:solidFill>
                <a:schemeClr val="accent3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Let’s </a:t>
            </a:r>
            <a:r>
              <a:rPr lang="en"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talk</a:t>
            </a:r>
            <a:endParaRPr sz="12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Waseem Kntar</a:t>
            </a:r>
            <a:endParaRPr sz="1600"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waseem.kntar@gmail.com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https://linkedin.com/in/waseem-kntar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